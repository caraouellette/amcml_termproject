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slideMaster1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presProps.xml" ContentType="application/vnd.openxmlformats-officedocument.presentationml.presProps+xml"/>
  <Override PartName="/ppt/media/image2.svg" ContentType="image/svg"/>
  <Override PartName="/ppt/media/image1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8288000" cy="10288588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371600" y="3196080"/>
            <a:ext cx="15544080" cy="220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91440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6248160" y="9536400"/>
            <a:ext cx="579024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1310616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C27680-9438-47B4-BC9D-4CC47A30A78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212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69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127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1840"/>
            <a:ext cx="16458480" cy="17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914400" y="2400480"/>
            <a:ext cx="16458480" cy="67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91440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6248160" y="9536400"/>
            <a:ext cx="579024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1310616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3883FB-D9D7-4956-932F-B1050AE4230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3258800" y="411840"/>
            <a:ext cx="4114080" cy="877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914400" y="411840"/>
            <a:ext cx="12039120" cy="877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91440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6248160" y="9536400"/>
            <a:ext cx="579024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1310616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AB1649-F422-4E59-945D-8852E4BC33C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4400" y="411840"/>
            <a:ext cx="16458480" cy="17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914400" y="2400480"/>
            <a:ext cx="16458480" cy="67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91440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6248160" y="9536400"/>
            <a:ext cx="579024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1310616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FE31FD-ABF2-4875-A71C-DAE8D9ED4FA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444320" y="6611040"/>
            <a:ext cx="15544080" cy="20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444320" y="4360680"/>
            <a:ext cx="15544080" cy="22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91440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6248160" y="9536400"/>
            <a:ext cx="579024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1310616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C57ABC-ACC6-4B2E-A324-BB193CE03ED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14400" y="411840"/>
            <a:ext cx="16458480" cy="17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914400" y="2400480"/>
            <a:ext cx="8076240" cy="67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9296640" y="2400480"/>
            <a:ext cx="8076240" cy="67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91440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6248160" y="9536400"/>
            <a:ext cx="579024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1310616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7D48E8-8E46-4EB4-B8EB-BAA27DC305F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914400" y="411840"/>
            <a:ext cx="16458480" cy="17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914400" y="2302920"/>
            <a:ext cx="8079840" cy="95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914400" y="3262680"/>
            <a:ext cx="8079840" cy="59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9290160" y="2302920"/>
            <a:ext cx="8082720" cy="95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9290160" y="3262680"/>
            <a:ext cx="8082720" cy="59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91440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6248160" y="9536400"/>
            <a:ext cx="579024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1310616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A22934-D163-4220-A2FF-431F2D64AE1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914400" y="411840"/>
            <a:ext cx="16458480" cy="17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91440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6248160" y="9536400"/>
            <a:ext cx="579024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1310616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046221-DC37-45B8-BE99-F2917CEAA2E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212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69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127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91440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6248160" y="9536400"/>
            <a:ext cx="579024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1310616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630D4C-092C-464D-91C0-62CB2EBCECA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2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212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69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127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914400" y="409320"/>
            <a:ext cx="6015600" cy="174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7150320" y="409320"/>
            <a:ext cx="10222560" cy="878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914400" y="2152800"/>
            <a:ext cx="6015600" cy="703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8"/>
          </p:nvPr>
        </p:nvSpPr>
        <p:spPr>
          <a:xfrm>
            <a:off x="91440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9"/>
          </p:nvPr>
        </p:nvSpPr>
        <p:spPr>
          <a:xfrm>
            <a:off x="6248160" y="9536400"/>
            <a:ext cx="579024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0"/>
          </p:nvPr>
        </p:nvSpPr>
        <p:spPr>
          <a:xfrm>
            <a:off x="1310616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2DB0E9-4335-44F5-A94F-355E95643A5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584880" y="7202160"/>
            <a:ext cx="10972080" cy="8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3584880" y="919080"/>
            <a:ext cx="10972080" cy="617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212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69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127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3584880" y="8052120"/>
            <a:ext cx="10972080" cy="120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1"/>
          </p:nvPr>
        </p:nvSpPr>
        <p:spPr>
          <a:xfrm>
            <a:off x="91440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2"/>
          </p:nvPr>
        </p:nvSpPr>
        <p:spPr>
          <a:xfrm>
            <a:off x="6248160" y="9536400"/>
            <a:ext cx="579024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3"/>
          </p:nvPr>
        </p:nvSpPr>
        <p:spPr>
          <a:xfrm>
            <a:off x="1310616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DD1084-CF7A-4522-97BE-A94E0156168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2DF05C9C-EA4B-42A5-B832-593ACEA210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dt" idx="34"/>
          </p:nvPr>
        </p:nvSpPr>
        <p:spPr>
          <a:xfrm>
            <a:off x="91440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ftr" idx="35"/>
          </p:nvPr>
        </p:nvSpPr>
        <p:spPr>
          <a:xfrm>
            <a:off x="6248160" y="9536400"/>
            <a:ext cx="579024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36"/>
          </p:nvPr>
        </p:nvSpPr>
        <p:spPr>
          <a:xfrm>
            <a:off x="13106160" y="9536400"/>
            <a:ext cx="4266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E56A44-959F-45B7-AE1B-D337C245C20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title"/>
          </p:nvPr>
        </p:nvSpPr>
        <p:spPr>
          <a:xfrm>
            <a:off x="1828800" y="615600"/>
            <a:ext cx="32917680" cy="25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2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1828800" y="3610800"/>
            <a:ext cx="32917680" cy="89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212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69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127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14400" y="411840"/>
            <a:ext cx="16458480" cy="17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Predicting Next-Day Price Direction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914400" y="2400480"/>
            <a:ext cx="16458480" cy="67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Comparative Study of Classification Models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on Imbalanced Time-Series Data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914400" y="411840"/>
            <a:ext cx="16458480" cy="17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Problem Framing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914400" y="2400480"/>
            <a:ext cx="16458480" cy="67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Objective: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Predict whether the next day’s price movement is Up or Not-Up.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Key characteristics: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Binary classification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Time-dependent data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Class imbalance (~70% Not-Up, ~30% Up)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14400" y="411840"/>
            <a:ext cx="16458480" cy="17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Why Accuracy Is Misleading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914400" y="2400480"/>
            <a:ext cx="16458480" cy="67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Always predicting Not-Up yields ~70% accuracy.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This strategy detects zero Up days.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Therefore: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Accuracy alone is insufficient, need to consider other metrics (although good accuracy is a nice bonus)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914400" y="411840"/>
            <a:ext cx="16458480" cy="17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Evaluation Metrics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914400" y="2400480"/>
            <a:ext cx="16458480" cy="67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F1 Score (Up): balances precision and recall for Up days.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ROC-AUC: ranking quality across all thresholds.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PR-AUC: performance relative to class prevalence.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914400" y="411840"/>
            <a:ext cx="16458480" cy="17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Dataset Summary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914400" y="2400480"/>
            <a:ext cx="16458480" cy="67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Data includes prices, weather, storage, rigs, and calendar features.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Synthetic features include returns, spreads, and rolling statistics based on spot prices and contract prices. 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Label: Up if next-day return &gt; 0.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914400" y="411840"/>
            <a:ext cx="16458480" cy="17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Train/Test Strategy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914400" y="2400480"/>
            <a:ext cx="16458480" cy="67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Chronological split used to prevent lookahead bias.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 shuffling applied (don’t want future events to inform past ones)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914400" y="411840"/>
            <a:ext cx="16458480" cy="17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Models Compared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914400" y="2400480"/>
            <a:ext cx="16458480" cy="67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Logistic Regression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Decision Tree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SGD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SVM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Random Forest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2"/>
          <p:cNvGrpSpPr/>
          <p:nvPr/>
        </p:nvGrpSpPr>
        <p:grpSpPr>
          <a:xfrm>
            <a:off x="2819520" y="2364840"/>
            <a:ext cx="15104520" cy="7923600"/>
            <a:chOff x="2819520" y="2364840"/>
            <a:chExt cx="15104520" cy="7923600"/>
          </a:xfrm>
        </p:grpSpPr>
        <p:sp>
          <p:nvSpPr>
            <p:cNvPr id="83" name="Freeform 3"/>
            <p:cNvSpPr/>
            <p:nvPr/>
          </p:nvSpPr>
          <p:spPr>
            <a:xfrm>
              <a:off x="2819520" y="2726640"/>
              <a:ext cx="15104520" cy="7561800"/>
            </a:xfrm>
            <a:custGeom>
              <a:avLst/>
              <a:gdLst>
                <a:gd name="textAreaLeft" fmla="*/ 0 w 15104520"/>
                <a:gd name="textAreaRight" fmla="*/ 15104880 w 15104520"/>
                <a:gd name="textAreaTop" fmla="*/ 0 h 7561800"/>
                <a:gd name="textAreaBottom" fmla="*/ 7562160 h 7561800"/>
              </a:gdLst>
              <a:ahLst/>
              <a:cxnLst/>
              <a:rect l="textAreaLeft" t="textAreaTop" r="textAreaRight" b="textAreaBottom"/>
              <a:pathLst>
                <a:path w="3978253" h="1991300">
                  <a:moveTo>
                    <a:pt x="0" y="0"/>
                  </a:moveTo>
                  <a:lnTo>
                    <a:pt x="3978253" y="0"/>
                  </a:lnTo>
                  <a:lnTo>
                    <a:pt x="3978253" y="1991300"/>
                  </a:lnTo>
                  <a:lnTo>
                    <a:pt x="0" y="1991300"/>
                  </a:lnTo>
                  <a:close/>
                </a:path>
              </a:pathLst>
            </a:custGeom>
            <a:solidFill>
              <a:srgbClr val="595d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CA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4"/>
            <p:cNvSpPr/>
            <p:nvPr/>
          </p:nvSpPr>
          <p:spPr>
            <a:xfrm>
              <a:off x="2819520" y="2364840"/>
              <a:ext cx="15104520" cy="792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85" name="TextBox 5"/>
          <p:cNvSpPr/>
          <p:nvPr/>
        </p:nvSpPr>
        <p:spPr>
          <a:xfrm>
            <a:off x="1297800" y="1000080"/>
            <a:ext cx="15715800" cy="363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931"/>
              </a:lnSpc>
            </a:pPr>
            <a:r>
              <a:rPr b="0" lang="en-US" sz="7080" strike="noStrike" u="none">
                <a:solidFill>
                  <a:srgbClr val="1d1d1b"/>
                </a:solidFill>
                <a:effectLst/>
                <a:uFillTx/>
                <a:latin typeface="Telegraf"/>
                <a:ea typeface="Telegraf"/>
              </a:rPr>
              <a:t>Logistic Regression Setup</a:t>
            </a:r>
            <a:endParaRPr b="0" lang="en-CA" sz="7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96"/>
              </a:lnSpc>
            </a:pPr>
            <a:r>
              <a:rPr b="0" lang="en-US" sz="4280" strike="noStrike" u="none">
                <a:solidFill>
                  <a:srgbClr val="1d1d1b"/>
                </a:solidFill>
                <a:effectLst/>
                <a:uFillTx/>
                <a:latin typeface="Telegraf"/>
                <a:ea typeface="Telegraf"/>
              </a:rPr>
              <a:t>Logistic Regression on Energy Market Dataset</a:t>
            </a:r>
            <a:endParaRPr b="0" lang="en-CA" sz="4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31"/>
              </a:lnSpc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31"/>
              </a:lnSpc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6"/>
          <p:cNvSpPr/>
          <p:nvPr/>
        </p:nvSpPr>
        <p:spPr>
          <a:xfrm>
            <a:off x="3258000" y="2836080"/>
            <a:ext cx="12777120" cy="72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684720" indent="-342360" defTabSz="914400">
              <a:lnSpc>
                <a:spcPts val="475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Dataset contains economic, weather, and market indicators, such as: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69080" indent="-456480" defTabSz="914400">
              <a:lnSpc>
                <a:spcPts val="4757"/>
              </a:lnSpc>
              <a:buClr>
                <a:srgbClr val="ffffff"/>
              </a:buClr>
              <a:buFont typeface="Arial"/>
              <a:buChar char="⚬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Spot prices, futures contracts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69080" indent="-456480" defTabSz="914400">
              <a:lnSpc>
                <a:spcPts val="4757"/>
              </a:lnSpc>
              <a:buClr>
                <a:srgbClr val="ffffff"/>
              </a:buClr>
              <a:buFont typeface="Arial"/>
              <a:buChar char="⚬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HDD / CDD from multiple regions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69080" indent="-456480" defTabSz="914400">
              <a:lnSpc>
                <a:spcPts val="4757"/>
              </a:lnSpc>
              <a:buClr>
                <a:srgbClr val="ffffff"/>
              </a:buClr>
              <a:buFont typeface="Arial"/>
              <a:buChar char="⚬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Rig counts and temporal variables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4720" indent="-342360" defTabSz="914400">
              <a:lnSpc>
                <a:spcPts val="475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Logistic Regression was used with: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69080" indent="-456480" defTabSz="914400">
              <a:lnSpc>
                <a:spcPts val="4757"/>
              </a:lnSpc>
              <a:buClr>
                <a:srgbClr val="ffffff"/>
              </a:buClr>
              <a:buFont typeface="Arial"/>
              <a:buChar char="⚬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L1 regularization for embedded feature selection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4720" indent="-342360" defTabSz="914400">
              <a:lnSpc>
                <a:spcPts val="475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Objective: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69080" indent="-456480" defTabSz="914400">
              <a:lnSpc>
                <a:spcPts val="4757"/>
              </a:lnSpc>
              <a:buClr>
                <a:srgbClr val="ffffff"/>
              </a:buClr>
              <a:buFont typeface="Arial"/>
              <a:buChar char="⚬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Predict the class label based on historical market conditions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7"/>
              </a:lnSpc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Key assumption of the model: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4720" indent="-342360" defTabSz="914400">
              <a:lnSpc>
                <a:spcPts val="475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Linear relationship between features and target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7"/>
              </a:lnSpc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Freeform 5"/>
          <p:cNvSpPr/>
          <p:nvPr/>
        </p:nvSpPr>
        <p:spPr>
          <a:xfrm>
            <a:off x="15379200" y="568800"/>
            <a:ext cx="1312200" cy="1312560"/>
          </a:xfrm>
          <a:custGeom>
            <a:avLst/>
            <a:gdLst>
              <a:gd name="textAreaLeft" fmla="*/ 0 w 1312200"/>
              <a:gd name="textAreaRight" fmla="*/ 1312560 w 1312200"/>
              <a:gd name="textAreaTop" fmla="*/ 0 h 1312560"/>
              <a:gd name="textAreaBottom" fmla="*/ 1312920 h 1312560"/>
            </a:gdLst>
            <a:ahLst/>
            <a:cxnLst/>
            <a:rect l="textAreaLeft" t="textAreaTop" r="textAreaRight" b="textAreaBottom"/>
            <a:pathLst>
              <a:path w="1312602" h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Freeform 6"/>
          <p:cNvSpPr/>
          <p:nvPr/>
        </p:nvSpPr>
        <p:spPr>
          <a:xfrm>
            <a:off x="1028880" y="5705640"/>
            <a:ext cx="1312200" cy="1312560"/>
          </a:xfrm>
          <a:custGeom>
            <a:avLst/>
            <a:gdLst>
              <a:gd name="textAreaLeft" fmla="*/ 0 w 1312200"/>
              <a:gd name="textAreaRight" fmla="*/ 1312560 w 1312200"/>
              <a:gd name="textAreaTop" fmla="*/ 0 h 1312560"/>
              <a:gd name="textAreaBottom" fmla="*/ 1312920 h 1312560"/>
            </a:gdLst>
            <a:ahLst/>
            <a:cxnLst/>
            <a:rect l="textAreaLeft" t="textAreaTop" r="textAreaRight" b="textAreaBottom"/>
            <a:pathLst>
              <a:path w="1312602" h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1"/>
          <p:cNvGrpSpPr/>
          <p:nvPr/>
        </p:nvGrpSpPr>
        <p:grpSpPr>
          <a:xfrm>
            <a:off x="2819520" y="2364840"/>
            <a:ext cx="15104520" cy="7923600"/>
            <a:chOff x="2819520" y="2364840"/>
            <a:chExt cx="15104520" cy="7923600"/>
          </a:xfrm>
        </p:grpSpPr>
        <p:sp>
          <p:nvSpPr>
            <p:cNvPr id="90" name="Freeform 1"/>
            <p:cNvSpPr/>
            <p:nvPr/>
          </p:nvSpPr>
          <p:spPr>
            <a:xfrm>
              <a:off x="2819520" y="2726640"/>
              <a:ext cx="15104520" cy="7561800"/>
            </a:xfrm>
            <a:custGeom>
              <a:avLst/>
              <a:gdLst>
                <a:gd name="textAreaLeft" fmla="*/ 0 w 15104520"/>
                <a:gd name="textAreaRight" fmla="*/ 15104880 w 15104520"/>
                <a:gd name="textAreaTop" fmla="*/ 0 h 7561800"/>
                <a:gd name="textAreaBottom" fmla="*/ 7562160 h 7561800"/>
              </a:gdLst>
              <a:ahLst/>
              <a:cxnLst/>
              <a:rect l="textAreaLeft" t="textAreaTop" r="textAreaRight" b="textAreaBottom"/>
              <a:pathLst>
                <a:path w="3978253" h="1991300">
                  <a:moveTo>
                    <a:pt x="0" y="0"/>
                  </a:moveTo>
                  <a:lnTo>
                    <a:pt x="3978253" y="0"/>
                  </a:lnTo>
                  <a:lnTo>
                    <a:pt x="3978253" y="1991300"/>
                  </a:lnTo>
                  <a:lnTo>
                    <a:pt x="0" y="1991300"/>
                  </a:lnTo>
                  <a:close/>
                </a:path>
              </a:pathLst>
            </a:custGeom>
            <a:solidFill>
              <a:srgbClr val="595d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r>
                <a:rPr b="0" lang="en-CA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	</a:t>
              </a:r>
              <a:endParaRPr b="0" lang="en-CA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TextBox 1"/>
            <p:cNvSpPr/>
            <p:nvPr/>
          </p:nvSpPr>
          <p:spPr>
            <a:xfrm>
              <a:off x="2819520" y="2364840"/>
              <a:ext cx="15104520" cy="792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92" name="TextBox 2"/>
          <p:cNvSpPr/>
          <p:nvPr/>
        </p:nvSpPr>
        <p:spPr>
          <a:xfrm>
            <a:off x="1297800" y="1000080"/>
            <a:ext cx="15715800" cy="42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931"/>
              </a:lnSpc>
            </a:pPr>
            <a:r>
              <a:rPr b="0" lang="en-US" sz="6600" strike="noStrike" u="none">
                <a:solidFill>
                  <a:srgbClr val="1d1d1b"/>
                </a:solidFill>
                <a:effectLst/>
                <a:uFillTx/>
                <a:latin typeface="Telegraf"/>
                <a:ea typeface="Telegraf"/>
              </a:rPr>
              <a:t>Final Results of Logistic Regression</a:t>
            </a:r>
            <a:endParaRPr b="0" lang="en-CA" sz="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96"/>
              </a:lnSpc>
            </a:pPr>
            <a:r>
              <a:rPr b="0" lang="en-US" sz="4280" strike="noStrike" u="none">
                <a:solidFill>
                  <a:srgbClr val="1d1d1b"/>
                </a:solidFill>
                <a:effectLst/>
                <a:uFillTx/>
                <a:latin typeface="Telegraf"/>
                <a:ea typeface="Telegraf"/>
              </a:rPr>
              <a:t>Model Performance Results</a:t>
            </a:r>
            <a:endParaRPr b="0" lang="en-CA" sz="4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96"/>
              </a:lnSpc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31"/>
              </a:lnSpc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31"/>
              </a:lnSpc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3258000" y="2836080"/>
            <a:ext cx="12777120" cy="68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7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FINAL LOGISTIC REGRESSION (Threshold Tuned) 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7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Accuracy:  0.36507936507936506 </a:t>
            </a:r>
            <a:br>
              <a:rPr sz="3170"/>
            </a:b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ROC-AUC: 0.557222034471105 </a:t>
            </a:r>
            <a:br>
              <a:rPr sz="3170"/>
            </a:b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PR-AUC:     0.36005412425966643 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7"/>
              </a:lnSpc>
              <a:spcBef>
                <a:spcPts val="1191"/>
              </a:spcBef>
              <a:spcAft>
                <a:spcPts val="992"/>
              </a:spcAft>
            </a:pP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7"/>
              </a:lnSpc>
              <a:spcBef>
                <a:spcPts val="1191"/>
              </a:spcBef>
              <a:spcAft>
                <a:spcPts val="992"/>
              </a:spcAft>
            </a:pPr>
            <a:br>
              <a:rPr sz="3170"/>
            </a:b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7"/>
              </a:lnSpc>
              <a:spcBef>
                <a:spcPts val="1191"/>
              </a:spcBef>
              <a:spcAft>
                <a:spcPts val="992"/>
              </a:spcAft>
            </a:pP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7"/>
              </a:lnSpc>
              <a:spcBef>
                <a:spcPts val="1191"/>
              </a:spcBef>
              <a:spcAft>
                <a:spcPts val="992"/>
              </a:spcAft>
            </a:pP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Freeform 2"/>
          <p:cNvSpPr/>
          <p:nvPr/>
        </p:nvSpPr>
        <p:spPr>
          <a:xfrm>
            <a:off x="15379200" y="568800"/>
            <a:ext cx="1312200" cy="1312560"/>
          </a:xfrm>
          <a:custGeom>
            <a:avLst/>
            <a:gdLst>
              <a:gd name="textAreaLeft" fmla="*/ 0 w 1312200"/>
              <a:gd name="textAreaRight" fmla="*/ 1312560 w 1312200"/>
              <a:gd name="textAreaTop" fmla="*/ 0 h 1312560"/>
              <a:gd name="textAreaBottom" fmla="*/ 1312920 h 1312560"/>
            </a:gdLst>
            <a:ahLst/>
            <a:cxnLst/>
            <a:rect l="textAreaLeft" t="textAreaTop" r="textAreaRight" b="textAreaBottom"/>
            <a:pathLst>
              <a:path w="1312602" h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Freeform 4"/>
          <p:cNvSpPr/>
          <p:nvPr/>
        </p:nvSpPr>
        <p:spPr>
          <a:xfrm>
            <a:off x="1028880" y="5705640"/>
            <a:ext cx="1312200" cy="1312560"/>
          </a:xfrm>
          <a:custGeom>
            <a:avLst/>
            <a:gdLst>
              <a:gd name="textAreaLeft" fmla="*/ 0 w 1312200"/>
              <a:gd name="textAreaRight" fmla="*/ 1312560 w 1312200"/>
              <a:gd name="textAreaTop" fmla="*/ 0 h 1312560"/>
              <a:gd name="textAreaBottom" fmla="*/ 1312920 h 1312560"/>
            </a:gdLst>
            <a:ahLst/>
            <a:cxnLst/>
            <a:rect l="textAreaLeft" t="textAreaTop" r="textAreaRight" b="textAreaBottom"/>
            <a:pathLst>
              <a:path w="1312602" h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6" name=""/>
          <p:cNvGraphicFramePr/>
          <p:nvPr/>
        </p:nvGraphicFramePr>
        <p:xfrm>
          <a:off x="3258000" y="5845320"/>
          <a:ext cx="12582000" cy="3093120"/>
        </p:xfrm>
        <a:graphic>
          <a:graphicData uri="http://schemas.openxmlformats.org/drawingml/2006/table">
            <a:tbl>
              <a:tblPr/>
              <a:tblGrid>
                <a:gridCol w="6513480"/>
                <a:gridCol w="6068520"/>
              </a:tblGrid>
              <a:tr h="30931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 defTabSz="914400"/>
                      <a:r>
                        <a:rPr b="0" lang="en-US" sz="317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elegraf"/>
                          <a:ea typeface="Telegraf"/>
                        </a:rPr>
                        <a:t>Classification Report: </a:t>
                      </a:r>
                      <a:br>
                        <a:rPr sz="3170"/>
                      </a:br>
                      <a:r>
                        <a:rPr b="0" lang="en-US" sz="317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elegraf"/>
                          <a:ea typeface="Telegraf"/>
                        </a:rPr>
                        <a:t>   precision recall f1-score support </a:t>
                      </a:r>
                      <a:endParaRPr b="0" lang="en-CA" sz="3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/>
                      <a:br>
                        <a:rPr sz="3170"/>
                      </a:br>
                      <a:r>
                        <a:rPr b="0" lang="en-US" sz="317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elegraf"/>
                          <a:ea typeface="Telegraf"/>
                        </a:rPr>
                        <a:t>0     0.77      0.08      0.14        550 </a:t>
                      </a:r>
                      <a:endParaRPr b="0" lang="en-CA" sz="3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/>
                      <a:r>
                        <a:rPr b="0" lang="en-US" sz="317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elegraf"/>
                          <a:ea typeface="Telegraf"/>
                        </a:rPr>
                        <a:t>1      0.34     0.95      </a:t>
                      </a:r>
                      <a:r>
                        <a:rPr b="1" lang="en-US" sz="317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elegraf"/>
                          <a:ea typeface="Telegraf"/>
                        </a:rPr>
                        <a:t>0.50</a:t>
                      </a:r>
                      <a:r>
                        <a:rPr b="0" lang="en-US" sz="317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elegraf"/>
                          <a:ea typeface="Telegraf"/>
                        </a:rPr>
                        <a:t>        269 </a:t>
                      </a:r>
                      <a:endParaRPr b="0" lang="en-CA" sz="3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914400">
                        <a:lnSpc>
                          <a:spcPts val="4757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317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elegraf"/>
                          <a:ea typeface="Telegraf"/>
                        </a:rPr>
                        <a:t>Confusion Matrix: </a:t>
                      </a:r>
                      <a:br>
                        <a:rPr sz="3170"/>
                      </a:br>
                      <a:r>
                        <a:rPr b="0" lang="en-US" sz="317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elegraf"/>
                          <a:ea typeface="Telegraf"/>
                        </a:rPr>
                        <a:t>[[ 43 507] </a:t>
                      </a:r>
                      <a:br>
                        <a:rPr sz="3170"/>
                      </a:br>
                      <a:r>
                        <a:rPr b="0" lang="en-US" sz="317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elegraf"/>
                          <a:ea typeface="Telegraf"/>
                        </a:rPr>
                        <a:t>[ 13 256]] </a:t>
                      </a:r>
                      <a:endParaRPr b="0" lang="en-CA" sz="3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3"/>
          <p:cNvGrpSpPr/>
          <p:nvPr/>
        </p:nvGrpSpPr>
        <p:grpSpPr>
          <a:xfrm>
            <a:off x="2819520" y="2364840"/>
            <a:ext cx="15104520" cy="7923600"/>
            <a:chOff x="2819520" y="2364840"/>
            <a:chExt cx="15104520" cy="7923600"/>
          </a:xfrm>
        </p:grpSpPr>
        <p:sp>
          <p:nvSpPr>
            <p:cNvPr id="98" name="Freeform 9"/>
            <p:cNvSpPr/>
            <p:nvPr/>
          </p:nvSpPr>
          <p:spPr>
            <a:xfrm>
              <a:off x="2819520" y="2726640"/>
              <a:ext cx="15104520" cy="7561800"/>
            </a:xfrm>
            <a:custGeom>
              <a:avLst/>
              <a:gdLst>
                <a:gd name="textAreaLeft" fmla="*/ 0 w 15104520"/>
                <a:gd name="textAreaRight" fmla="*/ 15104880 w 15104520"/>
                <a:gd name="textAreaTop" fmla="*/ 0 h 7561800"/>
                <a:gd name="textAreaBottom" fmla="*/ 7562160 h 7561800"/>
              </a:gdLst>
              <a:ahLst/>
              <a:cxnLst/>
              <a:rect l="textAreaLeft" t="textAreaTop" r="textAreaRight" b="textAreaBottom"/>
              <a:pathLst>
                <a:path w="3978253" h="1991300">
                  <a:moveTo>
                    <a:pt x="0" y="0"/>
                  </a:moveTo>
                  <a:lnTo>
                    <a:pt x="3978253" y="0"/>
                  </a:lnTo>
                  <a:lnTo>
                    <a:pt x="3978253" y="1991300"/>
                  </a:lnTo>
                  <a:lnTo>
                    <a:pt x="0" y="1991300"/>
                  </a:lnTo>
                  <a:close/>
                </a:path>
              </a:pathLst>
            </a:custGeom>
            <a:solidFill>
              <a:srgbClr val="595d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CA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TextBox 7"/>
            <p:cNvSpPr/>
            <p:nvPr/>
          </p:nvSpPr>
          <p:spPr>
            <a:xfrm>
              <a:off x="2819520" y="2364840"/>
              <a:ext cx="15104520" cy="792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00" name="TextBox 8"/>
          <p:cNvSpPr/>
          <p:nvPr/>
        </p:nvSpPr>
        <p:spPr>
          <a:xfrm>
            <a:off x="1297800" y="1000080"/>
            <a:ext cx="15715800" cy="42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931"/>
              </a:lnSpc>
            </a:pPr>
            <a:r>
              <a:rPr b="0" lang="en-US" sz="7080" strike="noStrike" u="none">
                <a:solidFill>
                  <a:srgbClr val="1d1d1b"/>
                </a:solidFill>
                <a:effectLst/>
                <a:uFillTx/>
                <a:latin typeface="Telegraf"/>
                <a:ea typeface="Telegraf"/>
              </a:rPr>
              <a:t>What We Observed</a:t>
            </a:r>
            <a:endParaRPr b="0" lang="en-CA" sz="7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96"/>
              </a:lnSpc>
            </a:pPr>
            <a:r>
              <a:rPr b="0" lang="en-US" sz="4280" strike="noStrike" u="none">
                <a:solidFill>
                  <a:srgbClr val="1d1d1b"/>
                </a:solidFill>
                <a:effectLst/>
                <a:uFillTx/>
                <a:latin typeface="Telegraf"/>
                <a:ea typeface="Telegraf"/>
              </a:rPr>
              <a:t>Model Performance Results</a:t>
            </a:r>
            <a:endParaRPr b="0" lang="en-CA" sz="4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96"/>
              </a:lnSpc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31"/>
              </a:lnSpc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31"/>
              </a:lnSpc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9"/>
          <p:cNvSpPr/>
          <p:nvPr/>
        </p:nvSpPr>
        <p:spPr>
          <a:xfrm>
            <a:off x="3258000" y="2836080"/>
            <a:ext cx="12777120" cy="543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7"/>
              </a:lnSpc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Logistic Regression showed: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4720" indent="-342360" defTabSz="914400">
              <a:lnSpc>
                <a:spcPts val="475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Lower accuracy and F1-score than tree-based and SVM models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7"/>
              </a:lnSpc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Feature selection was too aggressive: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4720" indent="-342360" defTabSz="914400">
              <a:lnSpc>
                <a:spcPts val="475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Important variables were removed due to correlation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7"/>
              </a:lnSpc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Additionally, the model struggled to separate classes effectively on unseen data.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7"/>
              </a:lnSpc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Observation: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4720" indent="-342360" defTabSz="914400">
              <a:lnSpc>
                <a:spcPts val="475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Simpler linear boundaries failed to capture real market behaviour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7"/>
              </a:lnSpc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Freeform 10"/>
          <p:cNvSpPr/>
          <p:nvPr/>
        </p:nvSpPr>
        <p:spPr>
          <a:xfrm>
            <a:off x="15379200" y="568800"/>
            <a:ext cx="1312200" cy="1312560"/>
          </a:xfrm>
          <a:custGeom>
            <a:avLst/>
            <a:gdLst>
              <a:gd name="textAreaLeft" fmla="*/ 0 w 1312200"/>
              <a:gd name="textAreaRight" fmla="*/ 1312560 w 1312200"/>
              <a:gd name="textAreaTop" fmla="*/ 0 h 1312560"/>
              <a:gd name="textAreaBottom" fmla="*/ 1312920 h 1312560"/>
            </a:gdLst>
            <a:ahLst/>
            <a:cxnLst/>
            <a:rect l="textAreaLeft" t="textAreaTop" r="textAreaRight" b="textAreaBottom"/>
            <a:pathLst>
              <a:path w="1312602" h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Freeform 11"/>
          <p:cNvSpPr/>
          <p:nvPr/>
        </p:nvSpPr>
        <p:spPr>
          <a:xfrm>
            <a:off x="1028880" y="5705640"/>
            <a:ext cx="1312200" cy="1312560"/>
          </a:xfrm>
          <a:custGeom>
            <a:avLst/>
            <a:gdLst>
              <a:gd name="textAreaLeft" fmla="*/ 0 w 1312200"/>
              <a:gd name="textAreaRight" fmla="*/ 1312560 w 1312200"/>
              <a:gd name="textAreaTop" fmla="*/ 0 h 1312560"/>
              <a:gd name="textAreaBottom" fmla="*/ 1312920 h 1312560"/>
            </a:gdLst>
            <a:ahLst/>
            <a:cxnLst/>
            <a:rect l="textAreaLeft" t="textAreaTop" r="textAreaRight" b="textAreaBottom"/>
            <a:pathLst>
              <a:path w="1312602" h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4"/>
          <p:cNvGrpSpPr/>
          <p:nvPr/>
        </p:nvGrpSpPr>
        <p:grpSpPr>
          <a:xfrm>
            <a:off x="2819520" y="2364840"/>
            <a:ext cx="15104520" cy="7923600"/>
            <a:chOff x="2819520" y="2364840"/>
            <a:chExt cx="15104520" cy="7923600"/>
          </a:xfrm>
        </p:grpSpPr>
        <p:sp>
          <p:nvSpPr>
            <p:cNvPr id="105" name="Freeform 7"/>
            <p:cNvSpPr/>
            <p:nvPr/>
          </p:nvSpPr>
          <p:spPr>
            <a:xfrm>
              <a:off x="2819520" y="2726640"/>
              <a:ext cx="15104520" cy="7561800"/>
            </a:xfrm>
            <a:custGeom>
              <a:avLst/>
              <a:gdLst>
                <a:gd name="textAreaLeft" fmla="*/ 0 w 15104520"/>
                <a:gd name="textAreaRight" fmla="*/ 15104880 w 15104520"/>
                <a:gd name="textAreaTop" fmla="*/ 0 h 7561800"/>
                <a:gd name="textAreaBottom" fmla="*/ 7562160 h 7561800"/>
              </a:gdLst>
              <a:ahLst/>
              <a:cxnLst/>
              <a:rect l="textAreaLeft" t="textAreaTop" r="textAreaRight" b="textAreaBottom"/>
              <a:pathLst>
                <a:path w="3978253" h="1991300">
                  <a:moveTo>
                    <a:pt x="0" y="0"/>
                  </a:moveTo>
                  <a:lnTo>
                    <a:pt x="3978253" y="0"/>
                  </a:lnTo>
                  <a:lnTo>
                    <a:pt x="3978253" y="1991300"/>
                  </a:lnTo>
                  <a:lnTo>
                    <a:pt x="0" y="1991300"/>
                  </a:lnTo>
                  <a:close/>
                </a:path>
              </a:pathLst>
            </a:custGeom>
            <a:solidFill>
              <a:srgbClr val="595d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CA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TextBox 13"/>
            <p:cNvSpPr/>
            <p:nvPr/>
          </p:nvSpPr>
          <p:spPr>
            <a:xfrm>
              <a:off x="2819520" y="2364840"/>
              <a:ext cx="15104520" cy="792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07" name="TextBox 14"/>
          <p:cNvSpPr/>
          <p:nvPr/>
        </p:nvSpPr>
        <p:spPr>
          <a:xfrm>
            <a:off x="1297800" y="1000080"/>
            <a:ext cx="15715800" cy="32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026"/>
              </a:lnSpc>
            </a:pPr>
            <a:r>
              <a:rPr b="0" lang="en-US" sz="5380" strike="noStrike" u="none">
                <a:solidFill>
                  <a:srgbClr val="1d1d1b"/>
                </a:solidFill>
                <a:effectLst/>
                <a:uFillTx/>
                <a:latin typeface="Telegraf"/>
                <a:ea typeface="Telegraf"/>
              </a:rPr>
              <a:t>Why Logistic Regression Did Not Work Well</a:t>
            </a:r>
            <a:endParaRPr b="0" lang="en-CA" sz="53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898"/>
              </a:lnSpc>
            </a:pPr>
            <a:r>
              <a:rPr b="0" lang="en-US" sz="3480" strike="noStrike" u="none">
                <a:solidFill>
                  <a:srgbClr val="1d1d1b"/>
                </a:solidFill>
                <a:effectLst/>
                <a:uFillTx/>
                <a:latin typeface="Telegraf"/>
                <a:ea typeface="Telegraf"/>
              </a:rPr>
              <a:t>Dataset–Model Mismatch</a:t>
            </a:r>
            <a:endParaRPr b="0" lang="en-CA" sz="3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31"/>
              </a:lnSpc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31"/>
              </a:lnSpc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5"/>
          <p:cNvSpPr/>
          <p:nvPr/>
        </p:nvSpPr>
        <p:spPr>
          <a:xfrm>
            <a:off x="2819520" y="2602800"/>
            <a:ext cx="15104520" cy="78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684720" indent="-342360" defTabSz="914400">
              <a:lnSpc>
                <a:spcPts val="475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Non-linear relationships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69080" indent="-456480" defTabSz="914400">
              <a:lnSpc>
                <a:spcPts val="4757"/>
              </a:lnSpc>
              <a:buClr>
                <a:srgbClr val="ffffff"/>
              </a:buClr>
              <a:buFont typeface="Arial"/>
              <a:buChar char="⚬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Energy prices depend on complex interactions between weather, supply, and contracts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4720" indent="-342360" defTabSz="914400">
              <a:lnSpc>
                <a:spcPts val="475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High multicollinearity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69080" indent="-456480" defTabSz="914400">
              <a:lnSpc>
                <a:spcPts val="4757"/>
              </a:lnSpc>
              <a:buClr>
                <a:srgbClr val="ffffff"/>
              </a:buClr>
              <a:buFont typeface="Arial"/>
              <a:buChar char="⚬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HDD/CDD variables across regions are strongly correlated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69080" indent="-456480" defTabSz="914400">
              <a:lnSpc>
                <a:spcPts val="4757"/>
              </a:lnSpc>
              <a:buClr>
                <a:srgbClr val="ffffff"/>
              </a:buClr>
              <a:buFont typeface="Arial"/>
              <a:buChar char="⚬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L1 regularization suppresses useful features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4720" indent="-342360" defTabSz="914400">
              <a:lnSpc>
                <a:spcPts val="475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Temporal &amp; market dynamics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69080" indent="-456480" defTabSz="914400">
              <a:lnSpc>
                <a:spcPts val="4757"/>
              </a:lnSpc>
              <a:buClr>
                <a:srgbClr val="ffffff"/>
              </a:buClr>
              <a:buFont typeface="Arial"/>
              <a:buChar char="⚬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Sudden price movements are not linearly predictable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4720" indent="-342360" defTabSz="914400">
              <a:lnSpc>
                <a:spcPts val="4757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Feature interactions ignored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69080" indent="-456480" defTabSz="914400">
              <a:lnSpc>
                <a:spcPts val="4757"/>
              </a:lnSpc>
              <a:buClr>
                <a:srgbClr val="ffffff"/>
              </a:buClr>
              <a:buFont typeface="Arial"/>
              <a:buChar char="⚬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Logistic Regression cannot model interactions like: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2053800" indent="-513360" defTabSz="914400">
              <a:lnSpc>
                <a:spcPts val="4757"/>
              </a:lnSpc>
              <a:buClr>
                <a:srgbClr val="ffffff"/>
              </a:buClr>
              <a:buFont typeface="Arial"/>
              <a:buChar char="￭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Weather × contract prices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2053800" indent="-513360" defTabSz="914400">
              <a:lnSpc>
                <a:spcPts val="4757"/>
              </a:lnSpc>
              <a:buClr>
                <a:srgbClr val="ffffff"/>
              </a:buClr>
              <a:buFont typeface="Arial"/>
              <a:buChar char="￭"/>
            </a:pPr>
            <a:r>
              <a:rPr b="0" lang="en-US" sz="3170" strike="noStrike" u="none">
                <a:solidFill>
                  <a:srgbClr val="ffffff"/>
                </a:solidFill>
                <a:effectLst/>
                <a:uFillTx/>
                <a:latin typeface="Telegraf"/>
                <a:ea typeface="Telegraf"/>
              </a:rPr>
              <a:t>Supply × demand indicators</a:t>
            </a:r>
            <a:endParaRPr b="0" lang="en-CA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7"/>
              </a:lnSpc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Freeform 8"/>
          <p:cNvSpPr/>
          <p:nvPr/>
        </p:nvSpPr>
        <p:spPr>
          <a:xfrm>
            <a:off x="15379200" y="568800"/>
            <a:ext cx="1312200" cy="1312560"/>
          </a:xfrm>
          <a:custGeom>
            <a:avLst/>
            <a:gdLst>
              <a:gd name="textAreaLeft" fmla="*/ 0 w 1312200"/>
              <a:gd name="textAreaRight" fmla="*/ 1312560 w 1312200"/>
              <a:gd name="textAreaTop" fmla="*/ 0 h 1312560"/>
              <a:gd name="textAreaBottom" fmla="*/ 1312920 h 1312560"/>
            </a:gdLst>
            <a:ahLst/>
            <a:cxnLst/>
            <a:rect l="textAreaLeft" t="textAreaTop" r="textAreaRight" b="textAreaBottom"/>
            <a:pathLst>
              <a:path w="1312602" h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Freeform 13"/>
          <p:cNvSpPr/>
          <p:nvPr/>
        </p:nvSpPr>
        <p:spPr>
          <a:xfrm>
            <a:off x="1028880" y="5705640"/>
            <a:ext cx="1312200" cy="1312560"/>
          </a:xfrm>
          <a:custGeom>
            <a:avLst/>
            <a:gdLst>
              <a:gd name="textAreaLeft" fmla="*/ 0 w 1312200"/>
              <a:gd name="textAreaRight" fmla="*/ 1312560 w 1312200"/>
              <a:gd name="textAreaTop" fmla="*/ 0 h 1312560"/>
              <a:gd name="textAreaBottom" fmla="*/ 1312920 h 1312560"/>
            </a:gdLst>
            <a:ahLst/>
            <a:cxnLst/>
            <a:rect l="textAreaLeft" t="textAreaTop" r="textAreaRight" b="textAreaBottom"/>
            <a:pathLst>
              <a:path w="1312602" h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14400" y="411840"/>
            <a:ext cx="16458480" cy="17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Model Comparison Summary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914400" y="2400480"/>
            <a:ext cx="16458480" cy="67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Insert comparison table here.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Metrics: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Accuracy, F1 (Up), ROC-AUC, PR-AUC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914400" y="411840"/>
            <a:ext cx="16458480" cy="17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Interpreting Tradeoffs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914400" y="2400480"/>
            <a:ext cx="16458480" cy="67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Accuracy favors majority class.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F1 (Up) favors aggressive Up prediction.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ROC-AUC and PR-AUC reflect underlying signal.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914400" y="411840"/>
            <a:ext cx="16458480" cy="17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Key Findings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914400" y="2400480"/>
            <a:ext cx="16458480" cy="67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Predictive signal exists but is limited.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Feature engineering improves ranking.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Thresholding affects behavior, not signal.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914400" y="411840"/>
            <a:ext cx="16458480" cy="17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Conclusions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914400" y="2400480"/>
            <a:ext cx="16458480" cy="67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Accuracy alone is misleading.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Class-aware metrics are required.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Different models emphasize different tradeoffs.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914400" y="411840"/>
            <a:ext cx="16458480" cy="17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Future Work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914400" y="2400480"/>
            <a:ext cx="16458480" cy="67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Alternative label definitions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Regime-specific modeling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Decision-based metrics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14400" y="411840"/>
            <a:ext cx="16458480" cy="17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Appendix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914400" y="2400480"/>
            <a:ext cx="16458480" cy="67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Confusion matrices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 curves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Feature importance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</TotalTime>
  <Application>LibreOffice/25.8.3.2$Windows_X86_64 LibreOffice_project/8ca8d55c161d602844f5428fa4b58097424e324e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en-CA</dc:language>
  <cp:lastModifiedBy/>
  <dcterms:modified xsi:type="dcterms:W3CDTF">2026-02-02T16:18:37Z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