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Telegraf" charset="1" panose="000005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9389" y="2726283"/>
            <a:ext cx="15104929" cy="7560717"/>
            <a:chOff x="0" y="0"/>
            <a:chExt cx="3978253" cy="1991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1991300"/>
            </a:xfrm>
            <a:custGeom>
              <a:avLst/>
              <a:gdLst/>
              <a:ahLst/>
              <a:cxnLst/>
              <a:rect r="r" b="b" t="t" l="l"/>
              <a:pathLst>
                <a:path h="1991300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2086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885" y="1000125"/>
            <a:ext cx="15716102" cy="370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1"/>
              </a:lnSpc>
            </a:pPr>
            <a:r>
              <a:rPr lang="en-US" sz="70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Logistic Regression Setup</a:t>
            </a:r>
          </a:p>
          <a:p>
            <a:pPr algn="l">
              <a:lnSpc>
                <a:spcPts val="4795"/>
              </a:lnSpc>
            </a:pPr>
            <a:r>
              <a:rPr lang="en-US" sz="42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Logistic Regression on Energy Market Dataset</a:t>
            </a:r>
          </a:p>
          <a:p>
            <a:pPr algn="l">
              <a:lnSpc>
                <a:spcPts val="7931"/>
              </a:lnSpc>
            </a:pPr>
          </a:p>
          <a:p>
            <a:pPr algn="l">
              <a:lnSpc>
                <a:spcPts val="793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57885" y="2835654"/>
            <a:ext cx="12777583" cy="721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Dataset contains economic, weather, and market indicators, such as: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Spot prices, futures contracts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HDD / CDD from multiple regions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Rig counts and temporal variables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Logistic Regression was used with: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L1 regularization for embedded feature selection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Objective: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Predict the class label based on historical market conditions</a:t>
            </a:r>
          </a:p>
          <a:p>
            <a:pPr algn="l">
              <a:lnSpc>
                <a:spcPts val="4756"/>
              </a:lnSpc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Key assumption of the model: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Linear relationship between features and target</a:t>
            </a:r>
          </a:p>
          <a:p>
            <a:pPr algn="l">
              <a:lnSpc>
                <a:spcPts val="475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9166" y="568758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9389" y="2726283"/>
            <a:ext cx="15104929" cy="7560717"/>
            <a:chOff x="0" y="0"/>
            <a:chExt cx="3978253" cy="1991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1991300"/>
            </a:xfrm>
            <a:custGeom>
              <a:avLst/>
              <a:gdLst/>
              <a:ahLst/>
              <a:cxnLst/>
              <a:rect r="r" b="b" t="t" l="l"/>
              <a:pathLst>
                <a:path h="1991300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2086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885" y="1000125"/>
            <a:ext cx="15716102" cy="4301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1"/>
              </a:lnSpc>
            </a:pPr>
            <a:r>
              <a:rPr lang="en-US" sz="70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What We Observed</a:t>
            </a:r>
          </a:p>
          <a:p>
            <a:pPr algn="l">
              <a:lnSpc>
                <a:spcPts val="4795"/>
              </a:lnSpc>
            </a:pPr>
            <a:r>
              <a:rPr lang="en-US" sz="42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M</a:t>
            </a:r>
            <a:r>
              <a:rPr lang="en-US" sz="42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odel Performance Results</a:t>
            </a:r>
          </a:p>
          <a:p>
            <a:pPr algn="l">
              <a:lnSpc>
                <a:spcPts val="4795"/>
              </a:lnSpc>
            </a:pPr>
          </a:p>
          <a:p>
            <a:pPr algn="l">
              <a:lnSpc>
                <a:spcPts val="7931"/>
              </a:lnSpc>
            </a:pPr>
          </a:p>
          <a:p>
            <a:pPr algn="l">
              <a:lnSpc>
                <a:spcPts val="793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57885" y="2835654"/>
            <a:ext cx="12777583" cy="601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Logistic Regression showed: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Lower accuracy and F1-score than tree-based and SVM models</a:t>
            </a:r>
          </a:p>
          <a:p>
            <a:pPr algn="l">
              <a:lnSpc>
                <a:spcPts val="4756"/>
              </a:lnSpc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Feature selection was too aggressive: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Important variables were removed due to correlation</a:t>
            </a:r>
          </a:p>
          <a:p>
            <a:pPr algn="l">
              <a:lnSpc>
                <a:spcPts val="4756"/>
              </a:lnSpc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Additionally, the m</a:t>
            </a: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odel struggled to separate classes effectively on unseen data.</a:t>
            </a:r>
          </a:p>
          <a:p>
            <a:pPr algn="l">
              <a:lnSpc>
                <a:spcPts val="4756"/>
              </a:lnSpc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Observation: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Simpler linear boundaries failed to capture real market behaviour</a:t>
            </a:r>
          </a:p>
          <a:p>
            <a:pPr algn="l">
              <a:lnSpc>
                <a:spcPts val="475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9166" y="568758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19389" y="2726283"/>
            <a:ext cx="15104929" cy="7560717"/>
            <a:chOff x="0" y="0"/>
            <a:chExt cx="3978253" cy="1991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78253" cy="1991300"/>
            </a:xfrm>
            <a:custGeom>
              <a:avLst/>
              <a:gdLst/>
              <a:ahLst/>
              <a:cxnLst/>
              <a:rect r="r" b="b" t="t" l="l"/>
              <a:pathLst>
                <a:path h="1991300" w="3978253">
                  <a:moveTo>
                    <a:pt x="0" y="0"/>
                  </a:moveTo>
                  <a:lnTo>
                    <a:pt x="3978253" y="0"/>
                  </a:lnTo>
                  <a:lnTo>
                    <a:pt x="3978253" y="1991300"/>
                  </a:lnTo>
                  <a:lnTo>
                    <a:pt x="0" y="1991300"/>
                  </a:lnTo>
                  <a:close/>
                </a:path>
              </a:pathLst>
            </a:custGeom>
            <a:solidFill>
              <a:srgbClr val="595D6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3978253" cy="2086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97885" y="1000125"/>
            <a:ext cx="15716102" cy="3339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7"/>
              </a:lnSpc>
            </a:pPr>
            <a:r>
              <a:rPr lang="en-US" sz="53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Why Logistic Regression Did Not Work Well</a:t>
            </a:r>
          </a:p>
          <a:p>
            <a:pPr algn="l">
              <a:lnSpc>
                <a:spcPts val="3899"/>
              </a:lnSpc>
            </a:pPr>
            <a:r>
              <a:rPr lang="en-US" sz="34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Dataset–M</a:t>
            </a:r>
            <a:r>
              <a:rPr lang="en-US" sz="3481">
                <a:solidFill>
                  <a:srgbClr val="1D1D1B"/>
                </a:solidFill>
                <a:latin typeface="Telegraf"/>
                <a:ea typeface="Telegraf"/>
                <a:cs typeface="Telegraf"/>
                <a:sym typeface="Telegraf"/>
              </a:rPr>
              <a:t>odel Mismatch</a:t>
            </a:r>
          </a:p>
          <a:p>
            <a:pPr algn="l">
              <a:lnSpc>
                <a:spcPts val="7931"/>
              </a:lnSpc>
            </a:pPr>
          </a:p>
          <a:p>
            <a:pPr algn="l">
              <a:lnSpc>
                <a:spcPts val="7931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819389" y="2602458"/>
            <a:ext cx="15104929" cy="7819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Non-linear relationships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Energy prices depend on complex interactions between weather, supply, and contracts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High multicollinearity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HDD/CDD variables across regions are strongly correlate</a:t>
            </a: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d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L1 regularization suppresses useful features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Temp</a:t>
            </a: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oral &amp; market dynamics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Sudden price movements are not linearly predictable</a:t>
            </a:r>
          </a:p>
          <a:p>
            <a:pPr algn="l" marL="684590" indent="-342295" lvl="1">
              <a:lnSpc>
                <a:spcPts val="4756"/>
              </a:lnSpc>
              <a:buFont typeface="Arial"/>
              <a:buChar char="•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Feature interactions ignored</a:t>
            </a:r>
          </a:p>
          <a:p>
            <a:pPr algn="l" marL="1369181" indent="-456394" lvl="2">
              <a:lnSpc>
                <a:spcPts val="4756"/>
              </a:lnSpc>
              <a:buFont typeface="Arial"/>
              <a:buChar char="⚬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Logistic Regression cannot model interactions like:</a:t>
            </a:r>
          </a:p>
          <a:p>
            <a:pPr algn="l" marL="2053771" indent="-513443" lvl="3">
              <a:lnSpc>
                <a:spcPts val="4756"/>
              </a:lnSpc>
              <a:buFont typeface="Arial"/>
              <a:buChar char="￭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Weather × contract prices</a:t>
            </a:r>
          </a:p>
          <a:p>
            <a:pPr algn="l" marL="2053771" indent="-513443" lvl="3">
              <a:lnSpc>
                <a:spcPts val="4756"/>
              </a:lnSpc>
              <a:buFont typeface="Arial"/>
              <a:buChar char="￭"/>
            </a:pPr>
            <a:r>
              <a:rPr lang="en-US" sz="317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Supply × demand indicators</a:t>
            </a:r>
          </a:p>
          <a:p>
            <a:pPr algn="l">
              <a:lnSpc>
                <a:spcPts val="4756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379166" y="568758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5704766"/>
            <a:ext cx="1312602" cy="1312602"/>
          </a:xfrm>
          <a:custGeom>
            <a:avLst/>
            <a:gdLst/>
            <a:ahLst/>
            <a:cxnLst/>
            <a:rect r="r" b="b" t="t" l="l"/>
            <a:pathLst>
              <a:path h="1312602" w="1312602">
                <a:moveTo>
                  <a:pt x="0" y="0"/>
                </a:moveTo>
                <a:lnTo>
                  <a:pt x="1312602" y="0"/>
                </a:lnTo>
                <a:lnTo>
                  <a:pt x="1312602" y="1312602"/>
                </a:lnTo>
                <a:lnTo>
                  <a:pt x="0" y="1312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DAHAMR7IRXQ</dc:identifier>
  <dcterms:modified xsi:type="dcterms:W3CDTF">2011-08-01T06:04:30Z</dcterms:modified>
  <cp:revision>1</cp:revision>
  <dc:title>Logistic Regression Setup Title: Logistic Regression on Energy Market Dataset Content: Dataset contains economic, weather, and market indicators, such as: Spot prices, futures contracts HDD / CDD from multiple regions Rig counts and temporal variables</dc:title>
</cp:coreProperties>
</file>